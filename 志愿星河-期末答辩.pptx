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77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371600"/>
            <a:ext cx="5943600" cy="5943600"/>
          </a:xfrm>
          <a:prstGeom prst="ellipse">
            <a:avLst/>
          </a:prstGeom>
          <a:solidFill>
            <a:srgbClr val="5B21B6">
              <a:alpha val="12000"/>
            </a:srgbClr>
          </a:solidFill>
          <a:ln w="12700">
            <a:solidFill>
              <a:srgbClr val="7C3AED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097280"/>
            <a:ext cx="5029200" cy="5029200"/>
          </a:xfrm>
          <a:prstGeom prst="ellipse">
            <a:avLst/>
          </a:prstGeom>
          <a:solidFill>
            <a:srgbClr val="5B21B6">
              <a:alpha val="10000"/>
            </a:srgbClr>
          </a:solidFill>
          <a:ln w="7620">
            <a:solidFill>
              <a:srgbClr val="A78BF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920240"/>
            <a:ext cx="3200400" cy="3200400"/>
          </a:xfrm>
          <a:prstGeom prst="ellipse">
            <a:avLst/>
          </a:prstGeom>
          <a:solidFill>
            <a:srgbClr val="7C3AED">
              <a:alpha val="7000"/>
            </a:srgbClr>
          </a:solidFill>
          <a:ln w="508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164592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37744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27432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84048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8288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0" y="256032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志愿星河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Star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大学生志愿服务管理平台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期末项目答辩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572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隋承果   ·   康雄杰   ·   林奕淞   ·   王玉   ·   陶炳源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志愿星河团队  ·  2026</a:t>
            </a:r>
            <a:endParaRPr lang="en-US" sz="1000" dirty="0"/>
          </a:p>
        </p:txBody>
      </p:sp>
      <p:sp>
        <p:nvSpPr>
          <p:cNvPr id="1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答辩大纲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280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34440" y="1490472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 · 职责划分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349240" y="1490472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14表 · E-R模型 · 表结构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34440" y="2148840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登录界面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350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手机验证码 · 安全认证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0756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49240" y="2148840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2350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精美UI布局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734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34440" y="2807208"/>
            <a:ext cx="228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AI智能助手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008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Coze集成 · 创新模块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27340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349240" y="2807208"/>
            <a:ext cx="228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2715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热力地图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3008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 · 创新模块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234440" y="3465576"/>
            <a:ext cx="228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417320" y="3374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后台管理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3666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 · 创新模块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33924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349240" y="3465576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532120" y="3374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532120" y="3666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活动中心 · 积分商城 · 发现 · 志愿星球 · 个人中心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0507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234440" y="4123944"/>
            <a:ext cx="22860" cy="320040"/>
          </a:xfrm>
          <a:prstGeom prst="rect">
            <a:avLst/>
          </a:prstGeom>
          <a:solidFill>
            <a:srgbClr val="A78BFA">
              <a:alpha val="5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41732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技术总结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417320" y="4325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 · 致谢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 · 职责划分 · 模块归属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572768" cy="3246120"/>
          </a:xfrm>
          <a:prstGeom prst="rect">
            <a:avLst/>
          </a:prstGeom>
          <a:solidFill>
            <a:srgbClr val="F5F3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1691640"/>
            <a:ext cx="457200" cy="457200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隋承果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1298448" cy="9144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529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项目整体规划 · 基础框架搭建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PPT制作 · 项目检查 · 全面完善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389888" cy="685800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776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活动中心 · 发现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 · 个人中心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21408" y="1554480"/>
            <a:ext cx="1572768" cy="3246120"/>
          </a:xfrm>
          <a:prstGeom prst="rect">
            <a:avLst/>
          </a:prstGeom>
          <a:solidFill>
            <a:srgbClr val="ECFDF5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79192" y="169164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21408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康雄杰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21408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后端核心开发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58568" y="2743200"/>
            <a:ext cx="1298448" cy="9144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212848" y="28529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内端代码补写 · Bug修复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代码简化 · 数据库优化 · 全面完善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12848" y="3977640"/>
            <a:ext cx="1389888" cy="685800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58568" y="39776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AI模块 · 后台管理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85616" y="1554480"/>
            <a:ext cx="1572768" cy="3246120"/>
          </a:xfrm>
          <a:prstGeom prst="rect">
            <a:avLst/>
          </a:prstGeom>
          <a:solidFill>
            <a:srgbClr val="EFF6FF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1691640"/>
            <a:ext cx="457200" cy="457200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85616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林奕淞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85616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数据库架构师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22776" y="2743200"/>
            <a:ext cx="1298448" cy="9144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77056" y="28529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数据库框架设计 · 论文修改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热力地图创新 · 全面完善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877056" y="3977640"/>
            <a:ext cx="1389888" cy="68580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922776" y="39776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 · 数据库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49824" y="1554480"/>
            <a:ext cx="1572768" cy="3246120"/>
          </a:xfrm>
          <a:prstGeom prst="rect">
            <a:avLst/>
          </a:prstGeom>
          <a:solidFill>
            <a:srgbClr val="FFFBEB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07608" y="169164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449824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9824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UI/UX设计师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86984" y="2743200"/>
            <a:ext cx="1298448" cy="9144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541264" y="28529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主页UI设计 · PPT参与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活动增删改查修复 · 全面完善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41264" y="3977640"/>
            <a:ext cx="1389888" cy="6858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586984" y="39776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主页模块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114032" y="1554480"/>
            <a:ext cx="1572768" cy="3246120"/>
          </a:xfrm>
          <a:prstGeom prst="rect">
            <a:avLst/>
          </a:prstGeom>
          <a:solidFill>
            <a:srgbClr val="FDF2F8"/>
          </a:solidFill>
          <a:ln/>
          <a:effectLst>
            <a:outerShdw blurRad="38100" dist="12700" dir="162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71816" y="1691640"/>
            <a:ext cx="457200" cy="457200"/>
          </a:xfrm>
          <a:prstGeom prst="ellipse">
            <a:avLst/>
          </a:prstGeom>
          <a:solidFill>
            <a:srgbClr val="EC4899">
              <a:alpha val="2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7181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14032" y="224028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陶炳源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114032" y="2468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论文与认证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251192" y="2743200"/>
            <a:ext cx="1298448" cy="9144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205472" y="2852928"/>
            <a:ext cx="13898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 · E-R图设计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手机验证码登录创新 · 全面完善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205472" y="3977640"/>
            <a:ext cx="1389888" cy="685800"/>
          </a:xfrm>
          <a:prstGeom prst="rect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7251192" y="397764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登录模块 · 志愿星球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2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项目分工详情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各成员具体负责模块与文件清单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角色定位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负责模块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核心贡献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隋承果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项目负责人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活动中心 · 发现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积分商城 · 个人中心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项目规划 · 框架搭建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PPT制作 · 模块完善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康雄杰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后端核心开发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AI模块 · 后台管理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后端补写 · Bug修复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代码简化 · 数据库优化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林奕淞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数据库架构师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热力地图 · 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数据库架构设计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ECharts可视化创新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UI/UX设计师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主页模块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精美UI设计 · PPT参与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增删改查功能修复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陶炳源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论文与认证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登录模块 · 志愿星球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论文撰写 · E-R图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验证码登录创新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— 核心表概览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14张数据表 · utf8mb4字符集 · InnoDB引擎 · 外键约束 · 唯一索引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508760"/>
            <a:ext cx="41148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1790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volunteer_user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92808" y="15179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用户主表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username, password, nickname, phone, role, region_id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41148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151790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volunteer_region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15179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区域表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73552" y="16916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region_name, center_x, center_y, sort_no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6016752" y="1508760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6752" y="1508760"/>
            <a:ext cx="41148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089904" y="151790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volunteer_organization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25512" y="15179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组织表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89904" y="16916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org_name, region_id, contact_name, contact_phone</a:t>
            </a:r>
            <a:endParaRPr lang="en-US" sz="580" dirty="0"/>
          </a:p>
        </p:txBody>
      </p:sp>
      <p:sp>
        <p:nvSpPr>
          <p:cNvPr id="21" name="Shape 19"/>
          <p:cNvSpPr/>
          <p:nvPr/>
        </p:nvSpPr>
        <p:spPr>
          <a:xfrm>
            <a:off x="384048" y="1892808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1892808"/>
            <a:ext cx="41148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190195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volunteer_tag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92808" y="190195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标签表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0756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tag_name, tag_type, color_code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3200400" y="1892808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1892808"/>
            <a:ext cx="41148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273552" y="190195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volunteer_activity_status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9160" y="190195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活动状态字典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73552" y="20756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status_code, status_name, sort_no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6016752" y="1892808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6752" y="1892808"/>
            <a:ext cx="41148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089904" y="190195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25512" y="190195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活动主表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089904" y="207568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title, activity_type, recruit_count, applied_count, heat_value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384048" y="2276856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2276856"/>
            <a:ext cx="41148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228600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volunteer_activity_enrollment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92808" y="228600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报名表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24597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activity_id, user_id, enroll_status, audit_user_id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3200400" y="2276856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2276856"/>
            <a:ext cx="41148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3273552" y="228600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volunteer_activity_sign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9160" y="228600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签到签退表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73552" y="24597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enrollment_id, sign_status, service_hour_actual</a:t>
            </a:r>
            <a:endParaRPr lang="en-US" sz="580" dirty="0"/>
          </a:p>
        </p:txBody>
      </p:sp>
      <p:sp>
        <p:nvSpPr>
          <p:cNvPr id="46" name="Shape 44"/>
          <p:cNvSpPr/>
          <p:nvPr/>
        </p:nvSpPr>
        <p:spPr>
          <a:xfrm>
            <a:off x="6016752" y="2276856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16752" y="2276856"/>
            <a:ext cx="4114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6089904" y="228600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volunteer_service_hour_summary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25512" y="228600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时长汇总表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89904" y="24597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total_hour, activity_count, ranking_no</a:t>
            </a:r>
            <a:endParaRPr lang="en-US" sz="580" dirty="0"/>
          </a:p>
        </p:txBody>
      </p:sp>
      <p:sp>
        <p:nvSpPr>
          <p:cNvPr id="51" name="Shape 49"/>
          <p:cNvSpPr/>
          <p:nvPr/>
        </p:nvSpPr>
        <p:spPr>
          <a:xfrm>
            <a:off x="384048" y="2660904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2660904"/>
            <a:ext cx="41148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267004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volunteer_service_hour_change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892808" y="267004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时长明细表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" y="28437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change_type, change_source, change_hour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3200400" y="2660904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0" y="2660904"/>
            <a:ext cx="41148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8" name="Text 56"/>
          <p:cNvSpPr/>
          <p:nvPr/>
        </p:nvSpPr>
        <p:spPr>
          <a:xfrm>
            <a:off x="3273552" y="267004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volunteer_message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09160" y="267004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消息表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273552" y="28437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sender_id, receiver_id, msg_type, is_read</a:t>
            </a:r>
            <a:endParaRPr lang="en-US" sz="580" dirty="0"/>
          </a:p>
        </p:txBody>
      </p:sp>
      <p:sp>
        <p:nvSpPr>
          <p:cNvPr id="61" name="Shape 59"/>
          <p:cNvSpPr/>
          <p:nvPr/>
        </p:nvSpPr>
        <p:spPr>
          <a:xfrm>
            <a:off x="6016752" y="2660904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C4899">
                <a:alpha val="4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16752" y="2660904"/>
            <a:ext cx="41148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3" name="Text 61"/>
          <p:cNvSpPr/>
          <p:nvPr/>
        </p:nvSpPr>
        <p:spPr>
          <a:xfrm>
            <a:off x="6089904" y="267004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volunteer_activity_favorite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25512" y="267004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收藏表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089904" y="28437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activity_id, favorite_time</a:t>
            </a:r>
            <a:endParaRPr lang="en-US" sz="580" dirty="0"/>
          </a:p>
        </p:txBody>
      </p:sp>
      <p:sp>
        <p:nvSpPr>
          <p:cNvPr id="66" name="Shape 64"/>
          <p:cNvSpPr/>
          <p:nvPr/>
        </p:nvSpPr>
        <p:spPr>
          <a:xfrm>
            <a:off x="384048" y="3044952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84048" y="3044952"/>
            <a:ext cx="41148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305409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volunteer_user_badge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892808" y="305409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用户徽章表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2278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user_id, badge_id, obtain_time</a:t>
            </a:r>
            <a:endParaRPr lang="en-US" sz="580" dirty="0"/>
          </a:p>
        </p:txBody>
      </p:sp>
      <p:sp>
        <p:nvSpPr>
          <p:cNvPr id="71" name="Shape 69"/>
          <p:cNvSpPr/>
          <p:nvPr/>
        </p:nvSpPr>
        <p:spPr>
          <a:xfrm>
            <a:off x="3200400" y="3044952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200400" y="3044952"/>
            <a:ext cx="41148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3" name="Text 71"/>
          <p:cNvSpPr/>
          <p:nvPr/>
        </p:nvSpPr>
        <p:spPr>
          <a:xfrm>
            <a:off x="3273552" y="305409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volunteer_admin_operation_log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09160" y="305409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管理员日志表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273552" y="32278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admin_id, operation, target_type, target_id</a:t>
            </a:r>
            <a:endParaRPr lang="en-US" sz="580" dirty="0"/>
          </a:p>
        </p:txBody>
      </p:sp>
      <p:sp>
        <p:nvSpPr>
          <p:cNvPr id="76" name="Text 74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7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— 核心表详细字段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6张核心业务表的字段定义 · 类型 · 约束 · 说明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08760"/>
            <a:ext cx="274320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29768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75488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AI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572768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5488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75488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 UNIQUE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572768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登录用户名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9768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5488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VARCHAR(100)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572768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BCrypt加密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75488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nickname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72768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显示昵称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29768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5488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572768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5488" y="393192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5488" y="4096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1572768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0=用户, 1=管理员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00400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1508760"/>
            <a:ext cx="274320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3273552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73552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活动主表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46120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291840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AI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38912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91840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291840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VARCHAR(150)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38912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活动标题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46120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3" name="Text 41"/>
          <p:cNvSpPr/>
          <p:nvPr/>
        </p:nvSpPr>
        <p:spPr>
          <a:xfrm>
            <a:off x="3291840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activity_type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291840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4389120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环保/教育/社区等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91840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recruit_count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91840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389120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招募人数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46120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0" name="Text 48"/>
          <p:cNvSpPr/>
          <p:nvPr/>
        </p:nvSpPr>
        <p:spPr>
          <a:xfrm>
            <a:off x="3291840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applied_count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91840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389120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已报名人数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91840" y="393192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heat_value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91840" y="4096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38912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热度值(热力图)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016752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16752" y="1508760"/>
            <a:ext cx="274320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6089904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volunteer_activity_enrollment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89904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报名表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062472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1" name="Text 59"/>
          <p:cNvSpPr/>
          <p:nvPr/>
        </p:nvSpPr>
        <p:spPr>
          <a:xfrm>
            <a:off x="6108192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activity_id+user_id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108192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7205472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联合唯一约束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108192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enroll_status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108192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CHAR(1)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7205472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0待审/1通过/2拒绝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62472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8" name="Text 66"/>
          <p:cNvSpPr/>
          <p:nvPr/>
        </p:nvSpPr>
        <p:spPr>
          <a:xfrm>
            <a:off x="6108192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enroll_time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108192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205472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报名时间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108192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audit_user_id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108192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7205472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审核人ID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062472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75" name="Text 73"/>
          <p:cNvSpPr/>
          <p:nvPr/>
        </p:nvSpPr>
        <p:spPr>
          <a:xfrm>
            <a:off x="6108192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audit_time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108192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7205472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审核时间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108192" y="393192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audit_remark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108192" y="4096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7205472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审核备注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84048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384048" y="1508760"/>
            <a:ext cx="2743200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volunteer_activity_sign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签到签退表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29768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86" name="Text 84"/>
          <p:cNvSpPr/>
          <p:nvPr/>
        </p:nvSpPr>
        <p:spPr>
          <a:xfrm>
            <a:off x="475488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enrollment_id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75488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FK UNIQUE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1572768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关联报名记录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75488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sign_status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75488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CHAR(1)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1572768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0未签/1已签/2已退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29768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93" name="Text 91"/>
          <p:cNvSpPr/>
          <p:nvPr/>
        </p:nvSpPr>
        <p:spPr>
          <a:xfrm>
            <a:off x="475488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sign_in_time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75488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600" dirty="0"/>
          </a:p>
        </p:txBody>
      </p:sp>
      <p:sp>
        <p:nvSpPr>
          <p:cNvPr id="95" name="Text 93"/>
          <p:cNvSpPr/>
          <p:nvPr/>
        </p:nvSpPr>
        <p:spPr>
          <a:xfrm>
            <a:off x="1572768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签到时间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75488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sign_out_time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475488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1572768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签退时间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429768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00" name="Text 98"/>
          <p:cNvSpPr/>
          <p:nvPr/>
        </p:nvSpPr>
        <p:spPr>
          <a:xfrm>
            <a:off x="475488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service_hour_actual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75488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DECIMAL(6,2)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1572768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实际服务时长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475488" y="393192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confirm_user_id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475488" y="4096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1572768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确认人ID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3200400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3200400" y="150876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8" name="Text 106"/>
          <p:cNvSpPr/>
          <p:nvPr/>
        </p:nvSpPr>
        <p:spPr>
          <a:xfrm>
            <a:off x="3273552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volunteer_service_hour_summary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3273552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时长汇总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246120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1" name="Text 109"/>
          <p:cNvSpPr/>
          <p:nvPr/>
        </p:nvSpPr>
        <p:spPr>
          <a:xfrm>
            <a:off x="3291840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3291840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FK UNIQUE</a:t>
            </a:r>
            <a:endParaRPr lang="en-US" sz="600" dirty="0"/>
          </a:p>
        </p:txBody>
      </p:sp>
      <p:sp>
        <p:nvSpPr>
          <p:cNvPr id="113" name="Text 111"/>
          <p:cNvSpPr/>
          <p:nvPr/>
        </p:nvSpPr>
        <p:spPr>
          <a:xfrm>
            <a:off x="4389120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每用户一条记录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3291840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total_service_hour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291840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DECIMAL(8,2)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389120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累计志愿时长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246120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8" name="Text 116"/>
          <p:cNvSpPr/>
          <p:nvPr/>
        </p:nvSpPr>
        <p:spPr>
          <a:xfrm>
            <a:off x="3291840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total_activity_count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291840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389120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累计完成活动数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3291840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ranking_no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3291840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00" dirty="0"/>
          </a:p>
        </p:txBody>
      </p:sp>
      <p:sp>
        <p:nvSpPr>
          <p:cNvPr id="123" name="Text 121"/>
          <p:cNvSpPr/>
          <p:nvPr/>
        </p:nvSpPr>
        <p:spPr>
          <a:xfrm>
            <a:off x="4389120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排行名次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246120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25" name="Text 123"/>
          <p:cNvSpPr/>
          <p:nvPr/>
        </p:nvSpPr>
        <p:spPr>
          <a:xfrm>
            <a:off x="3291840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last_calculate_time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3291840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600" dirty="0"/>
          </a:p>
        </p:txBody>
      </p:sp>
      <p:sp>
        <p:nvSpPr>
          <p:cNvPr id="127" name="Text 125"/>
          <p:cNvSpPr/>
          <p:nvPr/>
        </p:nvSpPr>
        <p:spPr>
          <a:xfrm>
            <a:off x="4389120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最后结算时间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6016752" y="150876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25400" dist="1270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9" name="Shape 127"/>
          <p:cNvSpPr/>
          <p:nvPr/>
        </p:nvSpPr>
        <p:spPr>
          <a:xfrm>
            <a:off x="6016752" y="1508760"/>
            <a:ext cx="2743200" cy="38404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30" name="Text 128"/>
          <p:cNvSpPr/>
          <p:nvPr/>
        </p:nvSpPr>
        <p:spPr>
          <a:xfrm>
            <a:off x="6089904" y="1527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volunteer_service_hour_change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6089904" y="1709928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时长明细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062472" y="1993392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33" name="Text 131"/>
          <p:cNvSpPr/>
          <p:nvPr/>
        </p:nvSpPr>
        <p:spPr>
          <a:xfrm>
            <a:off x="6108192" y="20116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6108192" y="217627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600" dirty="0"/>
          </a:p>
        </p:txBody>
      </p:sp>
      <p:sp>
        <p:nvSpPr>
          <p:cNvPr id="135" name="Text 133"/>
          <p:cNvSpPr/>
          <p:nvPr/>
        </p:nvSpPr>
        <p:spPr>
          <a:xfrm>
            <a:off x="7205472" y="20116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用户ID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08192" y="2395728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change_type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108192" y="25603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CHAR(1)</a:t>
            </a:r>
            <a:endParaRPr lang="en-US" sz="600" dirty="0"/>
          </a:p>
        </p:txBody>
      </p:sp>
      <p:sp>
        <p:nvSpPr>
          <p:cNvPr id="138" name="Text 136"/>
          <p:cNvSpPr/>
          <p:nvPr/>
        </p:nvSpPr>
        <p:spPr>
          <a:xfrm>
            <a:off x="7205472" y="2395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1增加/2扣减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6062472" y="2761488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0" name="Text 138"/>
          <p:cNvSpPr/>
          <p:nvPr/>
        </p:nvSpPr>
        <p:spPr>
          <a:xfrm>
            <a:off x="6108192" y="2779776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change_source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6108192" y="294436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VARCHAR(30)</a:t>
            </a:r>
            <a:endParaRPr lang="en-US" sz="600" dirty="0"/>
          </a:p>
        </p:txBody>
      </p:sp>
      <p:sp>
        <p:nvSpPr>
          <p:cNvPr id="142" name="Text 140"/>
          <p:cNvSpPr/>
          <p:nvPr/>
        </p:nvSpPr>
        <p:spPr>
          <a:xfrm>
            <a:off x="7205472" y="277977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签到自动/管理员/自主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6108192" y="316382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change_hour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6108192" y="3328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DECIMAL(6,2)</a:t>
            </a:r>
            <a:endParaRPr lang="en-US" sz="600" dirty="0"/>
          </a:p>
        </p:txBody>
      </p:sp>
      <p:sp>
        <p:nvSpPr>
          <p:cNvPr id="145" name="Text 143"/>
          <p:cNvSpPr/>
          <p:nvPr/>
        </p:nvSpPr>
        <p:spPr>
          <a:xfrm>
            <a:off x="7205472" y="31638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变更时长数值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6062472" y="3529584"/>
            <a:ext cx="2651760" cy="34747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7" name="Text 145"/>
          <p:cNvSpPr/>
          <p:nvPr/>
        </p:nvSpPr>
        <p:spPr>
          <a:xfrm>
            <a:off x="6108192" y="3547872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change_reason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6108192" y="37124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600" dirty="0"/>
          </a:p>
        </p:txBody>
      </p:sp>
      <p:sp>
        <p:nvSpPr>
          <p:cNvPr id="149" name="Text 147"/>
          <p:cNvSpPr/>
          <p:nvPr/>
        </p:nvSpPr>
        <p:spPr>
          <a:xfrm>
            <a:off x="7205472" y="3547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变更原因说明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6108192" y="393192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operate_user_id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6108192" y="4096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FK</a:t>
            </a:r>
            <a:endParaRPr lang="en-US" sz="600" dirty="0"/>
          </a:p>
        </p:txBody>
      </p:sp>
      <p:sp>
        <p:nvSpPr>
          <p:cNvPr id="152" name="Text 150"/>
          <p:cNvSpPr/>
          <p:nvPr/>
        </p:nvSpPr>
        <p:spPr>
          <a:xfrm>
            <a:off x="7205472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操作人ID</a:t>
            </a:r>
            <a:endParaRPr lang="en-US" sz="700" dirty="0"/>
          </a:p>
        </p:txBody>
      </p:sp>
      <p:sp>
        <p:nvSpPr>
          <p:cNvPr id="153" name="Text 15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54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— E-R关系模型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实体关系图 · 表间关联 · FK约束 · 技术栈选型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029200" cy="3291840"/>
          </a:xfrm>
          <a:prstGeom prst="rect">
            <a:avLst/>
          </a:prstGeom>
          <a:solidFill>
            <a:srgbClr val="EFF6FF"/>
          </a:solidFill>
          <a:ln w="1016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E-R 关系模型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12344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75688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volunteer_user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48840" y="2057400"/>
            <a:ext cx="12344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2075688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volunteer_region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2057400"/>
            <a:ext cx="12344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075688"/>
            <a:ext cx="1234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volunteer_organization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63040" y="28346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852928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834640"/>
            <a:ext cx="146304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2852928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volunteer_enrollment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0" y="3611880"/>
            <a:ext cx="164592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630168"/>
            <a:ext cx="1645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volunteer_activity_sign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18288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97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volunteer_service_hour_summary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时长汇总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1760" y="4279392"/>
            <a:ext cx="18288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429768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volunteer_service_hour_change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时长明细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93392" y="2578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480560" y="2331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834640" y="33649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1:1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920240" y="3840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834640" y="38404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1:1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9436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数据库技术栈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43600" y="1965960"/>
            <a:ext cx="283464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1965960"/>
            <a:ext cx="36576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19842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14884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关系型数据库 · utf8mb4字符集 · InnoDB引擎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80760" y="23134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14张核心业务表，完整外键约束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43600" y="2587752"/>
            <a:ext cx="283464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587752"/>
            <a:ext cx="36576" cy="5303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26060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Druid 1.2.23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277063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阿里巴巴高性能连接池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80760" y="29352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jdbc.properties 配置，自动管理连接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43600" y="3209544"/>
            <a:ext cx="283464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09544"/>
            <a:ext cx="36576" cy="5303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6080760" y="32278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 3.5.16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339242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轻量级ORM框架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080760" y="35570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XML Mapper + Java接口，动态SQL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43600" y="3831336"/>
            <a:ext cx="283464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3831336"/>
            <a:ext cx="36576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080760" y="38496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FastJSON2 2.0.43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80760" y="401421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阿里JSON序列化库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080760" y="41788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前后端数据交换，Java对象→JSON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943600" y="4453128"/>
            <a:ext cx="283464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4453128"/>
            <a:ext cx="36576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/>
          <p:nvPr/>
        </p:nvSpPr>
        <p:spPr>
          <a:xfrm>
            <a:off x="6080760" y="44714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数据初始化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80760" y="46360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volunteer_star.sql 脚本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0760" y="48006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建表+初始数据，一键部署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6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— 统计表与索引优化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快照统计 · 数据字典 · 外键索引 · 性能设计 · 初始数据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四张统计快照表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11480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576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865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volunteer_home_stat_snapshot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首页统计卡片数据源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2231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stat_code(K) · stat_label · stat_value · stat_suffix · stat_change_text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411480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36576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426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volunteer_region_stat_snapshot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82549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热力地图区域排行数据源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region_id(FK) · activity_count · participant_count · total_hours · heat_score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411480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83280"/>
            <a:ext cx="36576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41985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volunteer_category_stat_snapshot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" y="360273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活动类型分布统计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3232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tag_id(FK) · activity_count · percent_text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411480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60520"/>
            <a:ext cx="3657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1970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volunteer_monthly_stat_snapshot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3232" y="437997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月度趋势图数据源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stat_month · activity_count · participant_count · total_hours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029200" y="1463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索引与约束设计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0" y="1828800"/>
            <a:ext cx="379476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828800"/>
            <a:ext cx="36576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主键索引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04825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所有表使用 INT PRIMARY KEY AUTO_INCREMENT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166360" y="224942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快速定位 + 自增避免页分裂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29200" y="2606040"/>
            <a:ext cx="379476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606040"/>
            <a:ext cx="36576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26243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唯一约束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282549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username · activity_id+user_id · enrollment_id · region+date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66360" y="3026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防止重复数据，保证业务一致性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29200" y="3383280"/>
            <a:ext cx="379476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383280"/>
            <a:ext cx="36576" cy="6583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外键索引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6027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user_id · activity_id · region_id · enroll_id · tag_id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166360" y="38039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加速JOIN查询 · 参照完整性保护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4160520"/>
            <a:ext cx="3794760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4160520"/>
            <a:ext cx="36576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4178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状态字段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66360" y="437997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enroll_status · sign_status · account_status · role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66360" y="4581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CHAR(1) 类型，枚举值小索引高效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48640" y="4617720"/>
            <a:ext cx="8046720" cy="9144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初始数据: </a:t>
            </a: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8个区域 · 16个用户(含1管理员) · 3个组织 · 6个标签 · 4种状态 · 9场活动 · 10条报名 · 3条签到 · 10条时长变更 · 4条首页统计 · 7条区域统计 · 6条分类统计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登录界面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双模式认证 — 密码登录 + 手机验证码快捷登录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双通道认证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764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传统账号密码登录 + 手机验证码登录双模式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76272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30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验证码机制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04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6位随机验证码，Session存储，5分钟有效期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16352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16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自动注册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44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手机号未注册时自动创建账号，简化新用户流程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56432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安全防护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6850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BCrypt密码加密 · Session认证 · 表单校验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09651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050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反射分发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3251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Java反射动态路由 action 参数，控制器方法分发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1508760"/>
            <a:ext cx="2834640" cy="320040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技术亮点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057400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057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Servlet 反射动态路由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441448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验证码存储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825496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8254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密码加密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209544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手机号正则校验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593592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593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未注册自动创建账户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977640"/>
            <a:ext cx="24688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AuthFilter 全局鉴权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精美的设计语言 · 沉浸式用户体验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3619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36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渐变光晕球装饰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7647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blur滤镜营造梦幻氛围，绿色主题色贯穿全局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响应式导航栏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23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Sticky定位 · 绿金配色 · 登录态自适应展示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5292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807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Hero英雄区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815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全屏背景大图 · 动态粒子效果 · CTA行动号召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11296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4655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活动推荐卡片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7398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精选志愿活动轮播推荐 · 分类标签 · 一键跳转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16966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1239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数据看板入口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3982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首页实时展示：总志愿者数/活动数/累计服务时长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1508760"/>
            <a:ext cx="2834640" cy="32004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205740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CSS3 Gradient &amp; Blur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37744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3774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Fonts 字体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69748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2697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Flexbox 弹性布局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01752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0175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Sticky 定位导航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3375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状态管理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65760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3657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JSP include 组件化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35040" y="397764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9776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site.css 全局样式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4297680"/>
            <a:ext cx="2468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2976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header/footer.jspf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AI智能助手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64592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Coze 平台的智能对话机器人 · 技术创新模块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783080" cy="1417320"/>
          </a:xfrm>
          <a:prstGeom prst="rect">
            <a:avLst/>
          </a:prstGeom>
          <a:solidFill>
            <a:srgbClr val="18133A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JSP 页面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 SDK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78BFA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788920" y="1920240"/>
            <a:ext cx="1783080" cy="1417320"/>
          </a:xfrm>
          <a:prstGeom prst="rect">
            <a:avLst/>
          </a:prstGeom>
          <a:solidFill>
            <a:srgbClr val="18133A"/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CozeConfigServlet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Token/BotId 管理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1920240"/>
            <a:ext cx="1783080" cy="1417320"/>
          </a:xfrm>
          <a:prstGeom prst="rect">
            <a:avLst/>
          </a:prstGeom>
          <a:solidFill>
            <a:srgbClr val="18133A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AI 平台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 ID 路由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3774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86600" y="1920240"/>
            <a:ext cx="1783080" cy="1417320"/>
          </a:xfrm>
          <a:prstGeom prst="rect">
            <a:avLst/>
          </a:prstGeom>
          <a:solidFill>
            <a:srgbClr val="18133A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0116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Bot 智能体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调取知识库</a:t>
            </a:r>
            <a:endParaRPr lang="en-US" altLang="zh-CN" sz="1000" dirty="0">
              <a:solidFill>
                <a:srgbClr val="D1D5D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推理与响应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技术实现详解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050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配置读取优先级: 系统环境变量 → JVM属性 → 用户目录配置文件 (.volunteer-star/coze.properties)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251960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87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Servlet 端点 @WebServlet("/api/coze/config") 提供 Bot ID 与 Token 的 JSON 动态下发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434840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3708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前端通过 Coze Web SDK 动态加载 AI 对话窗口，Token 从后端接口实时获取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1520" y="4617720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537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Bot ID: 7662652685367738411，支持用户自定义配置覆盖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800600"/>
            <a:ext cx="73152" cy="7315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7365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禁用缓存策略: Cache-Control: no-store, no-cache, must-revalidate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— 技术实现深度解析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后端架构设计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84048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36576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29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CozeConfigServlet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核心配置接口，负责读取 Token 和 Bot 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384048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560320"/>
            <a:ext cx="36576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78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多源配置读取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 → JVM属性 → 本地配置文件，三级优先级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384048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108960"/>
            <a:ext cx="3657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默认回退机制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 ID 内置默认值，Token 缺失时返回 503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84048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57600"/>
            <a:ext cx="36576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安全策略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不暴露在前端代码中，通过后端接口动态下发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关键代码逻辑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2011680"/>
            <a:ext cx="3840480" cy="292608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03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@WebServlet("/api/coze/config")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CozeConfigServlet {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029200" y="2560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 USER_CONFIG = Path.of(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user.home, ".volunteer-star",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29200" y="3017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"coze.properties");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29200" y="3246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doGet(req, resp) {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29200" y="3474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 = readConfig(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0292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"COZE_WEB_SDK_TOKEN");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0" y="3931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botId = readConfig(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"COZE_BOT_ID");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29200" y="4389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{success, botId, token};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29200" y="4617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— 创新价值与应用场景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8133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无缝集成 Coze 平台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892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Servlet 后端动态配置 Coze SDK Token，避免前端硬编码，保障安全性。前端仅需一行 SDK 引用即可嵌入智能对话窗口。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1813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591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多级配置优先级机制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系统环境变量 → JVM属性 → 用户本地配置文件，三级配置读取策略，兼顾开发便利性与部署灵活性。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813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1363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智能活动推荐场景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Bot 可基于志愿者历史参与记录，智能推荐匹配度最高的志愿活动，提升用户体验与活动参与率。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1813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913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24×7 自助问答服务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志愿者可随时向 AI 助手咨询活动详情、报名流程、积分规则等问题，降低人工客服压力。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7863840" cy="9144"/>
          </a:xfrm>
          <a:prstGeom prst="rect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技术价值:</a:t>
            </a: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Servlet 后端动态配置 · 多级读取策略 · 实时Token下发 · 防缓存机制 · Coze SDK 前端集成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 — 活动可视化分析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ECharts 的志愿活动地理分布数据可视化 · 技术创新模块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444752" cy="1463040"/>
          </a:xfrm>
          <a:prstGeom prst="rect">
            <a:avLst/>
          </a:prstGeom>
          <a:solidFill>
            <a:srgbClr val="18133A"/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activities.json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静态活动数据集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01952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</a:rPr>
              <a:t>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76272" y="1874520"/>
            <a:ext cx="1444752" cy="1463040"/>
          </a:xfrm>
          <a:prstGeom prst="rect">
            <a:avLst/>
          </a:prstGeom>
          <a:solidFill>
            <a:srgbClr val="18133A"/>
          </a:solidFill>
          <a:ln w="12700">
            <a:solidFill>
              <a:srgbClr val="06B6D4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9424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HeatmapServlet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init() 预加载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21024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6B6D4"/>
                </a:solidFill>
              </a:rPr>
              <a:t>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95344" y="1874520"/>
            <a:ext cx="1444752" cy="1463040"/>
          </a:xfrm>
          <a:prstGeom prst="rect">
            <a:avLst/>
          </a:prstGeom>
          <a:solidFill>
            <a:srgbClr val="18133A"/>
          </a:solidFill>
          <a:ln w="12700">
            <a:solidFill>
              <a:srgbClr val="3B82F6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多维查询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68496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时间/关键词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/分类筛选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40096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</a:rPr>
              <a:t>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14416" y="1874520"/>
            <a:ext cx="1444752" cy="1463040"/>
          </a:xfrm>
          <a:prstGeom prst="rect">
            <a:avLst/>
          </a:prstGeom>
          <a:solidFill>
            <a:srgbClr val="18133A"/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14416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区域聚合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87568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detectRegion()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地理归属识别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59168" y="2377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33488" y="1874520"/>
            <a:ext cx="1444752" cy="1463040"/>
          </a:xfrm>
          <a:prstGeom prst="rect">
            <a:avLst/>
          </a:prstGeom>
          <a:solidFill>
            <a:srgbClr val="18133A"/>
          </a:solidFill>
          <a:ln w="1270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19202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前端渲染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2286000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热力图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China GeoJSON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端点设计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7863840" cy="237744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9776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/heatmap/api/activities?time=&amp;keyword=&amp;category=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39776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活动多维筛选查询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4251960"/>
            <a:ext cx="7863840" cy="237744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519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/heatmap/api/regions?time=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4251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区域活动分布聚合统计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7863840" cy="237744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262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/heatmap/api/search?q=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4526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活动关键词模糊搜索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 — 技术实现深度解析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20624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11680"/>
            <a:ext cx="36576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activities.json 静态数据集，通过 ClassLoader.getResourceAsStream 加载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420624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560320"/>
            <a:ext cx="36576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Servlet 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HeatmapServlet @WebServlet("/heatmap/api/*")，init() 预加载缓存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420624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108960"/>
            <a:ext cx="36576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27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时间筛选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按本月/3个月/6个月/全部四个维度过滤，LocalDate API 计算日期范围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420624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57600"/>
            <a:ext cx="36576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75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区域识别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detectRegion() 基于 location 字段关键词匹配映射至7个行政区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4206240" cy="45720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206240"/>
            <a:ext cx="36576" cy="457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245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聚合统计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4348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按区域汇总活动数量/参与人数/服务时长，降序排列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区域识别算法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120640" y="2011680"/>
            <a:ext cx="3657600" cy="2560320"/>
          </a:xfrm>
          <a:prstGeom prst="rect">
            <a:avLst/>
          </a:prstGeom>
          <a:solidFill>
            <a:srgbClr val="18133A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21031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detectRegion(location) {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57800" y="230428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["金凤区","金凤"],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57800" y="25054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["兴庆区","兴庆"],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7800" y="2706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["西夏区","西夏"],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57800" y="2907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["贺兰县","贺兰"],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7800" y="31089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["永宁县","永宁"],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57800" y="3310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["灵武市","灵武"],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7800" y="35112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["宁东镇","宁东"]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57800" y="37124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if(location.contains(k))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7800" y="39136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regionName;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57800" y="41148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"金凤区"; // 默认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57800" y="4315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聚合统计输出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20640" y="4892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每个区域输出: name(区域名), count(活动数), participants(参与人数), hours(累计时长)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5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热力地图 — 创新亮点与扩展能力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2801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3931920" cy="1371600"/>
          </a:xfrm>
          <a:prstGeom prst="rect">
            <a:avLst/>
          </a:prstGeom>
          <a:solidFill>
            <a:srgbClr val="18133A"/>
          </a:solidFill>
          <a:ln w="1016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73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中国地图集成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 ECharts 地图库（echarts.min.js + China GeoJSON），实现全国志愿活动热力可视化。通过颜色深浅直观展示各地活动密度，一眼掌握志愿服务热点区域。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50292" cy="5029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5603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地图底图加载与坐标系映射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2960" y="2743200"/>
            <a:ext cx="50292" cy="5029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269748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数据到颜色的线性映射算法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50292" cy="5029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28346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交互式悬停/点击信息展示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931920" cy="1371600"/>
          </a:xfrm>
          <a:prstGeom prst="rect">
            <a:avLst/>
          </a:prstGeom>
          <a:solidFill>
            <a:srgbClr val="18133A"/>
          </a:solidFill>
          <a:ln w="1016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73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多维时空数据筛选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支持时间维度（近1/3/6月/全部）、关键词搜索、类型分类的三维交叉筛选。前端筛选参数通过URL QueryString传递至Servlet，动态过滤数据集。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2606040"/>
            <a:ext cx="50292" cy="5029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184648" y="25603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LocalDate API 动态日期计算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74920" y="2743200"/>
            <a:ext cx="50292" cy="5029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184648" y="269748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多条件AND逻辑组合过滤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880360"/>
            <a:ext cx="50292" cy="50292"/>
          </a:xfrm>
          <a:prstGeom prst="ellipse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84648" y="28346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前端ECharts实时重绘响应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0080" y="3200400"/>
            <a:ext cx="3931920" cy="1371600"/>
          </a:xfrm>
          <a:prstGeom prst="rect">
            <a:avLst/>
          </a:prstGeom>
          <a:solidFill>
            <a:srgbClr val="18133A"/>
          </a:solidFill>
          <a:ln w="1016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73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4300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智能区域归属识别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独创 detectRegion() 算法，对活动地点字符串进行关键词匹配，自动归类到7个行政区。默认回退到金凤区，确保100%覆盖。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4206240"/>
            <a:ext cx="50292" cy="50292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" y="41605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7行政区关键词字典映射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2960" y="4343400"/>
            <a:ext cx="50292" cy="50292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429768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contains() 子串模糊匹配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822960" y="4480560"/>
            <a:ext cx="50292" cy="50292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4348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默认回退兜底策略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892040" y="3200400"/>
            <a:ext cx="3931920" cy="1371600"/>
          </a:xfrm>
          <a:prstGeom prst="rect">
            <a:avLst/>
          </a:prstGeom>
          <a:solidFill>
            <a:srgbClr val="18133A"/>
          </a:solidFill>
          <a:ln w="1016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2735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394960" y="32735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可扩展数据架构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611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Servlet 层与数据层解耦，当前使用 JSON 静态数据，可无缝切换至 MySQL 实时数据。API 返回标准 JSON，前后端分离架构便于扩展。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4206240"/>
            <a:ext cx="50292" cy="50292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184648" y="416052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 跨域支持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74920" y="4343400"/>
            <a:ext cx="50292" cy="50292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184648" y="429768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设计规范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74920" y="4480560"/>
            <a:ext cx="50292" cy="50292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5184648" y="4434840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Servlet init() 启动预加载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06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创新模块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 — 数据概览与管控中心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管理员一站式管控平台 · 数据驱动决策 · 技术创新模块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874520" cy="2011680"/>
          </a:xfrm>
          <a:prstGeom prst="rect">
            <a:avLst/>
          </a:prstGeom>
          <a:solidFill>
            <a:srgbClr val="18133A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实时统计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06040"/>
            <a:ext cx="1143000" cy="9144"/>
          </a:xfrm>
          <a:prstGeom prst="rect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用户总数 · 活动总数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报名总量 · 签到统计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828800"/>
            <a:ext cx="1874520" cy="2011680"/>
          </a:xfrm>
          <a:prstGeom prst="rect">
            <a:avLst/>
          </a:prstGeom>
          <a:solidFill>
            <a:srgbClr val="18133A"/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数据概览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2606040"/>
            <a:ext cx="1143000" cy="9144"/>
          </a:xfrm>
          <a:prstGeom prst="rect">
            <a:avLst/>
          </a:prstGeom>
          <a:solidFill>
            <a:srgbClr val="A78BFA">
              <a:alpha val="4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服务时长排行 · 活跃度分析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趋势图表 · 分布统计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1828800"/>
            <a:ext cx="1874520" cy="2011680"/>
          </a:xfrm>
          <a:prstGeom prst="rect">
            <a:avLst/>
          </a:prstGeom>
          <a:solidFill>
            <a:srgbClr val="18133A"/>
          </a:solidFill>
          <a:ln w="12700">
            <a:solidFill>
              <a:srgbClr val="06B6D4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</a:t>
            </a:r>
            <a:r>
              <a:rPr lang="zh-CN" altLang="en-US" sz="20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Operations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20640" y="2606040"/>
            <a:ext cx="1143000" cy="9144"/>
          </a:xfrm>
          <a:prstGeom prst="rect">
            <a:avLst/>
          </a:prstGeom>
          <a:solidFill>
            <a:srgbClr val="06B6D4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altLang="zh-CN" sz="900" dirty="0" err="1">
                <a:solidFill>
                  <a:srgbClr val="D1D5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批量审</a:t>
            </a:r>
            <a:r>
              <a:rPr lang="zh-CN" altLang="en-US" sz="900" dirty="0">
                <a:solidFill>
                  <a:srgbClr val="D1D5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</a:t>
            </a:r>
            <a:endParaRPr lang="en-US" altLang="zh-CN" sz="900" dirty="0">
              <a:solidFill>
                <a:srgbClr val="D1D5D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lnSpc>
                <a:spcPct val="130000"/>
              </a:lnSpc>
            </a:pPr>
            <a:r>
              <a:rPr lang="zh-CN" altLang="en-US" sz="900" dirty="0">
                <a:solidFill>
                  <a:srgbClr val="D1D5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活动一键搜索</a:t>
            </a:r>
            <a:endParaRPr lang="en-US" altLang="zh-CN" sz="9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1828800"/>
            <a:ext cx="1874520" cy="2011680"/>
          </a:xfrm>
          <a:prstGeom prst="rect">
            <a:avLst/>
          </a:prstGeom>
          <a:solidFill>
            <a:srgbClr val="18133A"/>
          </a:solidFill>
          <a:ln w="12700">
            <a:solidFill>
              <a:srgbClr val="22C55E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965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2606040"/>
            <a:ext cx="1143000" cy="9144"/>
          </a:xfrm>
          <a:prstGeom prst="rect">
            <a:avLst/>
          </a:prstGeom>
          <a:solidFill>
            <a:srgbClr val="22C55E">
              <a:alpha val="4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743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角色鉴权 · Session验证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管理员专属路由 · 403拦截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核心API接口体系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activities → 活动CRUD (增删改查+关键词/状态筛选)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4434840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registrations → 报名管理 (审批/拒绝/批量审批)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63600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checkin → 签到管理 (签到/签退/时长记录)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4636008"/>
            <a:ext cx="64008" cy="640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45902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→ 数据统计 (Dashboard 聚合统计接口)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8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活动中心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活动发布 · 报名管理 · 签到签退 · 时长统计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活动发布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管理员通过后台发布志愿活动，填写标题/分类/描述/地点/时间/容量等信息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活动浏览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志愿者可按分类(环保/教育/社区/助老等)筛选浏览活动列表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614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报名系统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999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志愿者一键报名，状态流转：待审批→已通过→已签到→已完成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558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55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签到签退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593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现场签到签退，自动计算志愿服务时长并累积到个人账户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50208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增删改查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187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完整CRUD操作：ActivityServlet 处理前端请求，MyBatis 持久化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7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积分获取 · 商品兑换 · 激励机制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积分获取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完成志愿活动后根据时长自动获得积分，签到签退完成即触发积分计算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128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商品展示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450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积分商城页面展示可兑换商品，含商品图片/名称/所需积分/库存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8529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52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兑换流程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用户选择商品 → 扣除积分 → 减少库存 → 生成兑换记录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9300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456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前端交互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730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points.js 负责积分查询、兑换操作的前端逻辑与UI交互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活动推荐 · 分类浏览 · 智能匹配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活动浏览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瀑布流/卡片式布局展示所有志愿活动，支持无限滚动加载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分类筛选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环保/教育/社区/助老/文化/体育/医疗等多维分类标签切换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关键词搜索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82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支持活动标题/地点/分类模糊搜索，快速定位感兴趣活动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301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593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Toast 提示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867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操作反馈使用 Toast 浮层提示，优雅的用户体验设计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志愿星球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志愿社区 · 3D历程 · 社交互动 · 沉浸式体验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社区广场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792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社交媒体信息流，用户可发布志愿动态、点赞、评论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04288"/>
            <a:ext cx="292608" cy="29260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3D时间线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5237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Three.js 的沉浸式3D志愿历程，粒子星空效果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03580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999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统计面板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2552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侧边栏展示社区热帖、活跃用户、服务时长排行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7673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67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发布功能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986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社区内支持发布图文动态，分享志愿心得与活动感受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1691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2057400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057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3D渲染引擎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2350008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3500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全屏粒子动画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2642616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6426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 Flexbox 布局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2935224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935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Sticky 侧边栏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35040" y="3227832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227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JSP Session 状态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35040" y="3520440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520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渐变/阴影/圆角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3813048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813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Noto Serif SC 字体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4105656"/>
            <a:ext cx="246888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C4899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410565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Roboto Mono 等宽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个人中心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0584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 · 服务记录 · 时长汇总 · 数据看板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810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显示志愿者头像/昵称/手机号/角色，支持个人资料编辑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2219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服务记录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496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按时间线展示所有参与过的志愿活动记录及对应时长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443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时长汇总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3182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累计志愿时长/本月时长/完成活动数/排名，数据实时更新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63016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593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3867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dashboard.js 驱动数据可视化，展示个人志愿成长轨迹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2468880" cy="3200400"/>
          </a:xfrm>
          <a:prstGeom prst="rect">
            <a:avLst/>
          </a:prstGeom>
          <a:solidFill>
            <a:srgbClr val="18133A"/>
          </a:solidFill>
          <a:ln w="1016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0972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JSP 动态页面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313432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249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HTML5 + CSS3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660904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 ES6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08376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可视化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355848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291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3D引擎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703320"/>
            <a:ext cx="64008" cy="64008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AI SDK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1280160"/>
            <a:ext cx="2468880" cy="3200400"/>
          </a:xfrm>
          <a:prstGeom prst="rect">
            <a:avLst/>
          </a:prstGeom>
          <a:solidFill>
            <a:srgbClr val="18133A"/>
          </a:solidFill>
          <a:ln w="10160">
            <a:solidFill>
              <a:srgbClr val="22C55E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11880" y="173736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1965960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22192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Servlet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2313432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822192" y="2249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 ORM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2660904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822192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Druid 连接池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0" y="3008376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822192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加密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0" y="3355848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822192" y="3291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FastJSON2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0" y="3703320"/>
            <a:ext cx="64008" cy="64008"/>
          </a:xfrm>
          <a:prstGeom prst="ellipse">
            <a:avLst/>
          </a:prstGeom>
          <a:solidFill>
            <a:srgbClr val="22C55E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822192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Jakarta EE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1280160"/>
            <a:ext cx="2468880" cy="3200400"/>
          </a:xfrm>
          <a:prstGeom prst="rect">
            <a:avLst/>
          </a:prstGeom>
          <a:solidFill>
            <a:srgbClr val="18133A"/>
          </a:solidFill>
          <a:ln w="10160">
            <a:solidFill>
              <a:srgbClr val="3B82F6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46520" y="173736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492240" y="1965960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56832" y="1901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数据库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2313432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656832" y="22494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Tomcat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2660904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56832" y="2596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版本管理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92240" y="3008376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56832" y="29443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Maven 构建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92240" y="3355848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656832" y="3291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 开发环境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3703320"/>
            <a:ext cx="64008" cy="64008"/>
          </a:xfrm>
          <a:prstGeom prst="ellipse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656832" y="3639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Deploy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项目亮点总结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40080" y="48920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6大核心功能模块 · MVC三层架构 · AI智能对话 · 数据可视化 · 3D沉浸体验 · 安全认证体系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53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731520"/>
            <a:ext cx="4114800" cy="4114800"/>
          </a:xfrm>
          <a:prstGeom prst="ellipse">
            <a:avLst/>
          </a:prstGeom>
          <a:solidFill>
            <a:srgbClr val="5B21B6">
              <a:alpha val="15000"/>
            </a:srgbClr>
          </a:solidFill>
          <a:ln w="1016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286000"/>
            <a:ext cx="3657600" cy="3657600"/>
          </a:xfrm>
          <a:prstGeom prst="ellipse">
            <a:avLst/>
          </a:prstGeom>
          <a:solidFill>
            <a:srgbClr val="5B21B6">
              <a:alpha val="12000"/>
            </a:srgbClr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457200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653985"/>
            <a:ext cx="32004" cy="320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731403"/>
            <a:ext cx="32004" cy="320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642493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0" y="441187"/>
            <a:ext cx="32004" cy="320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249594"/>
            <a:ext cx="32004" cy="320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183932"/>
            <a:ext cx="32004" cy="320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0" y="284031"/>
            <a:ext cx="32004" cy="320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3017520" y="1920240"/>
            <a:ext cx="3108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志愿星河 · 让每一份善意都被看见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Star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请各位老师批评指正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3840480"/>
            <a:ext cx="6400800" cy="7315"/>
          </a:xfrm>
          <a:prstGeom prst="rect">
            <a:avLst/>
          </a:prstGeom>
          <a:solidFill>
            <a:srgbClr val="A78BFA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隋承果  ·  康雄杰  ·  林奕淞  ·  王玉  ·  陶炳源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志愿星河团队  ·  2026  ·  期末答辩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21" name="Watermark"/>
          <p:cNvSpPr txBox="1"/>
          <p:nvPr/>
        </p:nvSpPr>
        <p:spPr>
          <a:xfrm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2513</Words>
  <Application>Microsoft Office PowerPoint</Application>
  <PresentationFormat>全屏显示(16:9)</PresentationFormat>
  <Paragraphs>745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Microsoft YaHei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志愿星河 - 期末答辩</dc:title>
  <dc:subject>PptxGenJS Presentation</dc:subject>
  <dc:creator>志愿星河团队</dc:creator>
  <cp:lastModifiedBy>雄杰 康</cp:lastModifiedBy>
  <cp:revision>2</cp:revision>
  <dcterms:created xsi:type="dcterms:W3CDTF">2026-07-16T08:11:53Z</dcterms:created>
  <dcterms:modified xsi:type="dcterms:W3CDTF">2026-07-16T12:44:28Z</dcterms:modified>
</cp:coreProperties>
</file>